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128" autoAdjust="0"/>
  </p:normalViewPr>
  <p:slideViewPr>
    <p:cSldViewPr snapToGrid="0" snapToObjects="1">
      <p:cViewPr varScale="1">
        <p:scale>
          <a:sx n="76" d="100"/>
          <a:sy n="76" d="100"/>
        </p:scale>
        <p:origin x="425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ADAF0F-AC75-4FAA-864D-C2F06A21CD78}" type="datetimeFigureOut">
              <a:rPr lang="en-US" smtClean="0"/>
              <a:t>1/27/2026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CFD7E-EACB-4E8D-ACA2-C8378E962CCC}" type="slidenum">
              <a:rPr lang="en-US" smtClean="0"/>
              <a:t>‹#›</a:t>
            </a:fld>
            <a:endParaRPr lang="en-US"/>
          </a:p>
        </p:txBody>
      </p:sp>
    </p:spTree>
    <p:extLst>
      <p:ext uri="{BB962C8B-B14F-4D97-AF65-F5344CB8AC3E}">
        <p14:creationId xmlns:p14="http://schemas.microsoft.com/office/powerpoint/2010/main" val="71924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CURRENT POSITION RATIONALE: Intel Core Ultra Series 3 launched TODAY (Jan 27, 2026) and is entering the GROWTH stage. Key indicators: (1) Just completed successful market introduction at CES 2026, (2) OEM partnerships activated with Dell, HP, Lenovo for immediate distribution scaling, (3) Strategic AWS partnership for enterprise adoption, (4) Competitive positioning established against AMD/Qualcomm, (5) Early market feedback positive on AI capabilities and performance metrics. Expected to experience rapid adoption over next 12-18 months as AI PC market expands.</a:t>
            </a:r>
          </a:p>
          <a:p>
            <a:endParaRPr lang="en-US" dirty="0"/>
          </a:p>
        </p:txBody>
      </p:sp>
      <p:sp>
        <p:nvSpPr>
          <p:cNvPr id="4" name="Slide Number Placeholder 3"/>
          <p:cNvSpPr>
            <a:spLocks noGrp="1"/>
          </p:cNvSpPr>
          <p:nvPr>
            <p:ph type="sldNum" sz="quarter" idx="5"/>
          </p:nvPr>
        </p:nvSpPr>
        <p:spPr/>
        <p:txBody>
          <a:bodyPr/>
          <a:lstStyle/>
          <a:p>
            <a:fld id="{7A5CFD7E-EACB-4E8D-ACA2-C8378E962CCC}" type="slidenum">
              <a:rPr lang="en-US" smtClean="0"/>
              <a:t>1</a:t>
            </a:fld>
            <a:endParaRPr lang="en-US"/>
          </a:p>
        </p:txBody>
      </p:sp>
    </p:spTree>
    <p:extLst>
      <p:ext uri="{BB962C8B-B14F-4D97-AF65-F5344CB8AC3E}">
        <p14:creationId xmlns:p14="http://schemas.microsoft.com/office/powerpoint/2010/main" val="338048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8229600" cy="457200"/>
          </a:xfrm>
          <a:prstGeom prst="rect">
            <a:avLst/>
          </a:prstGeom>
          <a:noFill/>
        </p:spPr>
        <p:txBody>
          <a:bodyPr wrap="none">
            <a:spAutoFit/>
          </a:bodyPr>
          <a:lstStyle/>
          <a:p>
            <a:pPr algn="ctr">
              <a:defRPr sz="3200" b="1">
                <a:solidFill>
                  <a:srgbClr val="003D5B"/>
                </a:solidFill>
              </a:defRPr>
            </a:pPr>
            <a:r>
              <a:t>Product Life Cycle Analysis</a:t>
            </a:r>
          </a:p>
        </p:txBody>
      </p:sp>
      <p:sp>
        <p:nvSpPr>
          <p:cNvPr id="3" name="TextBox 2"/>
          <p:cNvSpPr txBox="1"/>
          <p:nvPr/>
        </p:nvSpPr>
        <p:spPr>
          <a:xfrm>
            <a:off x="457200" y="640080"/>
            <a:ext cx="8229600" cy="274320"/>
          </a:xfrm>
          <a:prstGeom prst="rect">
            <a:avLst/>
          </a:prstGeom>
          <a:noFill/>
        </p:spPr>
        <p:txBody>
          <a:bodyPr wrap="none">
            <a:spAutoFit/>
          </a:bodyPr>
          <a:lstStyle/>
          <a:p>
            <a:pPr algn="ctr">
              <a:defRPr sz="1800" b="1">
                <a:solidFill>
                  <a:srgbClr val="0071C5"/>
                </a:solidFill>
              </a:defRPr>
            </a:pPr>
            <a:r>
              <a:t>Intel Core Ultra Series 3 Processors</a:t>
            </a:r>
          </a:p>
        </p:txBody>
      </p:sp>
      <p:sp>
        <p:nvSpPr>
          <p:cNvPr id="4" name="TextBox 3"/>
          <p:cNvSpPr txBox="1"/>
          <p:nvPr/>
        </p:nvSpPr>
        <p:spPr>
          <a:xfrm>
            <a:off x="457200" y="914400"/>
            <a:ext cx="8229600" cy="228600"/>
          </a:xfrm>
          <a:prstGeom prst="rect">
            <a:avLst/>
          </a:prstGeom>
          <a:noFill/>
        </p:spPr>
        <p:txBody>
          <a:bodyPr wrap="none">
            <a:spAutoFit/>
          </a:bodyPr>
          <a:lstStyle/>
          <a:p>
            <a:pPr algn="ctr">
              <a:defRPr sz="1100">
                <a:solidFill>
                  <a:srgbClr val="646464"/>
                </a:solidFill>
              </a:defRPr>
            </a:pPr>
            <a:r>
              <a:t>Announced: CES 2026 (Jan 5) | Market Launch: Jan 27, 2026 | Current Date: Jan 27, 2026</a:t>
            </a:r>
          </a:p>
        </p:txBody>
      </p:sp>
      <p:sp>
        <p:nvSpPr>
          <p:cNvPr id="5" name="Rectangle 4"/>
          <p:cNvSpPr/>
          <p:nvPr/>
        </p:nvSpPr>
        <p:spPr>
          <a:xfrm>
            <a:off x="411479" y="1280160"/>
            <a:ext cx="2011680" cy="5029200"/>
          </a:xfrm>
          <a:prstGeom prst="rect">
            <a:avLst/>
          </a:prstGeom>
          <a:solidFill>
            <a:srgbClr val="F0FFF0"/>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11479" y="1280160"/>
            <a:ext cx="2011680" cy="548640"/>
          </a:xfrm>
          <a:prstGeom prst="rect">
            <a:avLst/>
          </a:prstGeom>
          <a:solidFill>
            <a:srgbClr val="90EE90"/>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1325880"/>
            <a:ext cx="2011680" cy="228600"/>
          </a:xfrm>
          <a:prstGeom prst="rect">
            <a:avLst/>
          </a:prstGeom>
          <a:noFill/>
        </p:spPr>
        <p:txBody>
          <a:bodyPr wrap="none">
            <a:spAutoFit/>
          </a:bodyPr>
          <a:lstStyle/>
          <a:p>
            <a:pPr algn="ctr">
              <a:defRPr sz="1400" b="1">
                <a:solidFill>
                  <a:srgbClr val="003D5B"/>
                </a:solidFill>
              </a:defRPr>
            </a:pPr>
            <a:r>
              <a:t>Introduction</a:t>
            </a:r>
          </a:p>
        </p:txBody>
      </p:sp>
      <p:sp>
        <p:nvSpPr>
          <p:cNvPr id="8" name="TextBox 7"/>
          <p:cNvSpPr txBox="1"/>
          <p:nvPr/>
        </p:nvSpPr>
        <p:spPr>
          <a:xfrm>
            <a:off x="411479" y="1554480"/>
            <a:ext cx="2011680" cy="228600"/>
          </a:xfrm>
          <a:prstGeom prst="rect">
            <a:avLst/>
          </a:prstGeom>
          <a:noFill/>
        </p:spPr>
        <p:txBody>
          <a:bodyPr wrap="none">
            <a:spAutoFit/>
          </a:bodyPr>
          <a:lstStyle/>
          <a:p>
            <a:pPr algn="ctr">
              <a:defRPr sz="900" b="1">
                <a:solidFill>
                  <a:srgbClr val="505050"/>
                </a:solidFill>
              </a:defRPr>
            </a:pPr>
            <a:r>
              <a:t>Just Completed</a:t>
            </a:r>
          </a:p>
        </p:txBody>
      </p:sp>
      <p:sp>
        <p:nvSpPr>
          <p:cNvPr id="9" name="TextBox 8"/>
          <p:cNvSpPr txBox="1"/>
          <p:nvPr/>
        </p:nvSpPr>
        <p:spPr>
          <a:xfrm>
            <a:off x="457199" y="1920239"/>
            <a:ext cx="1920240" cy="2743200"/>
          </a:xfrm>
          <a:prstGeom prst="rect">
            <a:avLst/>
          </a:prstGeom>
          <a:noFill/>
        </p:spPr>
        <p:txBody>
          <a:bodyPr wrap="square">
            <a:spAutoFit/>
          </a:bodyPr>
          <a:lstStyle/>
          <a:p>
            <a:pPr>
              <a:lnSpc>
                <a:spcPct val="130000"/>
              </a:lnSpc>
              <a:defRPr sz="900">
                <a:solidFill>
                  <a:srgbClr val="282828"/>
                </a:solidFill>
              </a:defRPr>
            </a:pPr>
            <a:r>
              <a:t>• Product announced at CES</a:t>
            </a:r>
          </a:p>
          <a:p>
            <a:pPr>
              <a:lnSpc>
                <a:spcPct val="130000"/>
              </a:lnSpc>
              <a:defRPr sz="900">
                <a:solidFill>
                  <a:srgbClr val="282828"/>
                </a:solidFill>
              </a:defRPr>
            </a:pPr>
            <a:r>
              <a:t>• Initial market entry</a:t>
            </a:r>
          </a:p>
          <a:p>
            <a:pPr>
              <a:lnSpc>
                <a:spcPct val="130000"/>
              </a:lnSpc>
              <a:defRPr sz="900">
                <a:solidFill>
                  <a:srgbClr val="282828"/>
                </a:solidFill>
              </a:defRPr>
            </a:pPr>
            <a:r>
              <a:t>• High R&amp;D investment</a:t>
            </a:r>
          </a:p>
          <a:p>
            <a:pPr>
              <a:lnSpc>
                <a:spcPct val="130000"/>
              </a:lnSpc>
              <a:defRPr sz="900">
                <a:solidFill>
                  <a:srgbClr val="282828"/>
                </a:solidFill>
              </a:defRPr>
            </a:pPr>
            <a:r>
              <a:t>• Limited initial production</a:t>
            </a:r>
          </a:p>
          <a:p>
            <a:pPr>
              <a:lnSpc>
                <a:spcPct val="130000"/>
              </a:lnSpc>
              <a:defRPr sz="900">
                <a:solidFill>
                  <a:srgbClr val="282828"/>
                </a:solidFill>
              </a:defRPr>
            </a:pPr>
            <a:r>
              <a:t>• Early adopter targeting</a:t>
            </a:r>
          </a:p>
          <a:p>
            <a:pPr>
              <a:lnSpc>
                <a:spcPct val="130000"/>
              </a:lnSpc>
              <a:defRPr sz="900">
                <a:solidFill>
                  <a:srgbClr val="282828"/>
                </a:solidFill>
              </a:defRPr>
            </a:pPr>
            <a:r>
              <a:t>• Technology validation</a:t>
            </a:r>
          </a:p>
          <a:p>
            <a:pPr>
              <a:lnSpc>
                <a:spcPct val="130000"/>
              </a:lnSpc>
              <a:defRPr sz="900">
                <a:solidFill>
                  <a:srgbClr val="282828"/>
                </a:solidFill>
              </a:defRPr>
            </a:pPr>
            <a:r>
              <a:t>• Brand awareness building</a:t>
            </a:r>
          </a:p>
        </p:txBody>
      </p:sp>
      <p:sp>
        <p:nvSpPr>
          <p:cNvPr id="10" name="TextBox 9"/>
          <p:cNvSpPr txBox="1"/>
          <p:nvPr/>
        </p:nvSpPr>
        <p:spPr>
          <a:xfrm>
            <a:off x="457199" y="4754879"/>
            <a:ext cx="1920240" cy="1097280"/>
          </a:xfrm>
          <a:prstGeom prst="rect">
            <a:avLst/>
          </a:prstGeom>
          <a:noFill/>
        </p:spPr>
        <p:txBody>
          <a:bodyPr wrap="square">
            <a:spAutoFit/>
          </a:bodyPr>
          <a:lstStyle/>
          <a:p>
            <a:pPr>
              <a:defRPr sz="900" b="1">
                <a:solidFill>
                  <a:srgbClr val="0071C5"/>
                </a:solidFill>
              </a:defRPr>
            </a:pPr>
            <a:r>
              <a:t>Intel Specifics:</a:t>
            </a:r>
          </a:p>
          <a:p>
            <a:pPr>
              <a:lnSpc>
                <a:spcPct val="120000"/>
              </a:lnSpc>
              <a:defRPr sz="800">
                <a:solidFill>
                  <a:srgbClr val="0071C5"/>
                </a:solidFill>
              </a:defRPr>
            </a:pPr>
            <a:r>
              <a:t>✓ 18A process technology debut</a:t>
            </a:r>
          </a:p>
          <a:p>
            <a:pPr>
              <a:lnSpc>
                <a:spcPct val="120000"/>
              </a:lnSpc>
              <a:defRPr sz="800">
                <a:solidFill>
                  <a:srgbClr val="0071C5"/>
                </a:solidFill>
              </a:defRPr>
            </a:pPr>
            <a:r>
              <a:t>✓ AI PC market positioning</a:t>
            </a:r>
          </a:p>
          <a:p>
            <a:pPr>
              <a:lnSpc>
                <a:spcPct val="120000"/>
              </a:lnSpc>
              <a:defRPr sz="800">
                <a:solidFill>
                  <a:srgbClr val="0071C5"/>
                </a:solidFill>
              </a:defRPr>
            </a:pPr>
            <a:r>
              <a:t>✓ Premium pricing strategy</a:t>
            </a:r>
          </a:p>
        </p:txBody>
      </p:sp>
      <p:sp>
        <p:nvSpPr>
          <p:cNvPr id="11" name="Rectangle 10"/>
          <p:cNvSpPr/>
          <p:nvPr/>
        </p:nvSpPr>
        <p:spPr>
          <a:xfrm>
            <a:off x="2514599" y="1280160"/>
            <a:ext cx="2011680" cy="5029200"/>
          </a:xfrm>
          <a:prstGeom prst="rect">
            <a:avLst/>
          </a:prstGeom>
          <a:solidFill>
            <a:srgbClr val="FFFFE6"/>
          </a:solidFill>
          <a:ln w="508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4599" y="1280160"/>
            <a:ext cx="2011680" cy="548640"/>
          </a:xfrm>
          <a:prstGeom prst="rect">
            <a:avLst/>
          </a:prstGeom>
          <a:solidFill>
            <a:srgbClr val="FFD700"/>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4599" y="1325880"/>
            <a:ext cx="2011680" cy="228600"/>
          </a:xfrm>
          <a:prstGeom prst="rect">
            <a:avLst/>
          </a:prstGeom>
          <a:noFill/>
        </p:spPr>
        <p:txBody>
          <a:bodyPr wrap="none">
            <a:spAutoFit/>
          </a:bodyPr>
          <a:lstStyle/>
          <a:p>
            <a:pPr algn="ctr">
              <a:defRPr sz="1400" b="1">
                <a:solidFill>
                  <a:srgbClr val="003D5B"/>
                </a:solidFill>
              </a:defRPr>
            </a:pPr>
            <a:r>
              <a:t>Growth</a:t>
            </a:r>
          </a:p>
        </p:txBody>
      </p:sp>
      <p:sp>
        <p:nvSpPr>
          <p:cNvPr id="14" name="TextBox 13"/>
          <p:cNvSpPr txBox="1"/>
          <p:nvPr/>
        </p:nvSpPr>
        <p:spPr>
          <a:xfrm>
            <a:off x="2514599" y="1554480"/>
            <a:ext cx="2011680" cy="228600"/>
          </a:xfrm>
          <a:prstGeom prst="rect">
            <a:avLst/>
          </a:prstGeom>
          <a:noFill/>
        </p:spPr>
        <p:txBody>
          <a:bodyPr wrap="none">
            <a:spAutoFit/>
          </a:bodyPr>
          <a:lstStyle/>
          <a:p>
            <a:pPr algn="ctr">
              <a:defRPr sz="900" b="1">
                <a:solidFill>
                  <a:srgbClr val="505050"/>
                </a:solidFill>
              </a:defRPr>
            </a:pPr>
            <a:r>
              <a:t>NOW - Next 12-18 Months</a:t>
            </a:r>
          </a:p>
        </p:txBody>
      </p:sp>
      <p:sp>
        <p:nvSpPr>
          <p:cNvPr id="15" name="TextBox 14"/>
          <p:cNvSpPr txBox="1"/>
          <p:nvPr/>
        </p:nvSpPr>
        <p:spPr>
          <a:xfrm>
            <a:off x="2560319" y="1920239"/>
            <a:ext cx="1920240" cy="2743200"/>
          </a:xfrm>
          <a:prstGeom prst="rect">
            <a:avLst/>
          </a:prstGeom>
          <a:noFill/>
        </p:spPr>
        <p:txBody>
          <a:bodyPr wrap="square">
            <a:spAutoFit/>
          </a:bodyPr>
          <a:lstStyle/>
          <a:p>
            <a:pPr>
              <a:lnSpc>
                <a:spcPct val="130000"/>
              </a:lnSpc>
              <a:defRPr sz="900">
                <a:solidFill>
                  <a:srgbClr val="282828"/>
                </a:solidFill>
              </a:defRPr>
            </a:pPr>
            <a:r>
              <a:t>• Rapid sales expansion</a:t>
            </a:r>
          </a:p>
          <a:p>
            <a:pPr>
              <a:lnSpc>
                <a:spcPct val="130000"/>
              </a:lnSpc>
              <a:defRPr sz="900">
                <a:solidFill>
                  <a:srgbClr val="282828"/>
                </a:solidFill>
              </a:defRPr>
            </a:pPr>
            <a:r>
              <a:t>• OEM partner rollout</a:t>
            </a:r>
          </a:p>
          <a:p>
            <a:pPr>
              <a:lnSpc>
                <a:spcPct val="130000"/>
              </a:lnSpc>
              <a:defRPr sz="900">
                <a:solidFill>
                  <a:srgbClr val="282828"/>
                </a:solidFill>
              </a:defRPr>
            </a:pPr>
            <a:r>
              <a:t>• Market share capture</a:t>
            </a:r>
          </a:p>
          <a:p>
            <a:pPr>
              <a:lnSpc>
                <a:spcPct val="130000"/>
              </a:lnSpc>
              <a:defRPr sz="900">
                <a:solidFill>
                  <a:srgbClr val="282828"/>
                </a:solidFill>
              </a:defRPr>
            </a:pPr>
            <a:r>
              <a:t>• Distribution scaling</a:t>
            </a:r>
          </a:p>
          <a:p>
            <a:pPr>
              <a:lnSpc>
                <a:spcPct val="130000"/>
              </a:lnSpc>
              <a:defRPr sz="900">
                <a:solidFill>
                  <a:srgbClr val="282828"/>
                </a:solidFill>
              </a:defRPr>
            </a:pPr>
            <a:r>
              <a:t>• Competitive responses</a:t>
            </a:r>
          </a:p>
          <a:p>
            <a:pPr>
              <a:lnSpc>
                <a:spcPct val="130000"/>
              </a:lnSpc>
              <a:defRPr sz="900">
                <a:solidFill>
                  <a:srgbClr val="282828"/>
                </a:solidFill>
              </a:defRPr>
            </a:pPr>
            <a:r>
              <a:t>• Feature differentiation</a:t>
            </a:r>
          </a:p>
          <a:p>
            <a:pPr>
              <a:lnSpc>
                <a:spcPct val="130000"/>
              </a:lnSpc>
              <a:defRPr sz="900">
                <a:solidFill>
                  <a:srgbClr val="282828"/>
                </a:solidFill>
              </a:defRPr>
            </a:pPr>
            <a:r>
              <a:t>• Customer adoption</a:t>
            </a:r>
          </a:p>
        </p:txBody>
      </p:sp>
      <p:sp>
        <p:nvSpPr>
          <p:cNvPr id="16" name="TextBox 15"/>
          <p:cNvSpPr txBox="1"/>
          <p:nvPr/>
        </p:nvSpPr>
        <p:spPr>
          <a:xfrm>
            <a:off x="2560319" y="4754879"/>
            <a:ext cx="1920240" cy="1097280"/>
          </a:xfrm>
          <a:prstGeom prst="rect">
            <a:avLst/>
          </a:prstGeom>
          <a:noFill/>
        </p:spPr>
        <p:txBody>
          <a:bodyPr wrap="square">
            <a:spAutoFit/>
          </a:bodyPr>
          <a:lstStyle/>
          <a:p>
            <a:pPr>
              <a:defRPr sz="900" b="1">
                <a:solidFill>
                  <a:srgbClr val="0071C5"/>
                </a:solidFill>
              </a:defRPr>
            </a:pPr>
            <a:r>
              <a:t>Intel Specifics:</a:t>
            </a:r>
          </a:p>
          <a:p>
            <a:pPr>
              <a:lnSpc>
                <a:spcPct val="120000"/>
              </a:lnSpc>
              <a:defRPr sz="800">
                <a:solidFill>
                  <a:srgbClr val="0071C5"/>
                </a:solidFill>
              </a:defRPr>
            </a:pPr>
            <a:r>
              <a:t>→ Dell, HP, Lenovo launches</a:t>
            </a:r>
          </a:p>
          <a:p>
            <a:pPr>
              <a:lnSpc>
                <a:spcPct val="120000"/>
              </a:lnSpc>
              <a:defRPr sz="800">
                <a:solidFill>
                  <a:srgbClr val="0071C5"/>
                </a:solidFill>
              </a:defRPr>
            </a:pPr>
            <a:r>
              <a:t>→ AWS partnership expansion</a:t>
            </a:r>
          </a:p>
          <a:p>
            <a:pPr>
              <a:lnSpc>
                <a:spcPct val="120000"/>
              </a:lnSpc>
              <a:defRPr sz="800">
                <a:solidFill>
                  <a:srgbClr val="0071C5"/>
                </a:solidFill>
              </a:defRPr>
            </a:pPr>
            <a:r>
              <a:t>→ Consumer market penetration</a:t>
            </a:r>
          </a:p>
        </p:txBody>
      </p:sp>
      <p:sp>
        <p:nvSpPr>
          <p:cNvPr id="17" name="Rectangle 16"/>
          <p:cNvSpPr/>
          <p:nvPr/>
        </p:nvSpPr>
        <p:spPr>
          <a:xfrm>
            <a:off x="2606039" y="5943600"/>
            <a:ext cx="1828800" cy="274320"/>
          </a:xfrm>
          <a:prstGeom prst="rect">
            <a:avLst/>
          </a:prstGeom>
          <a:solidFill>
            <a:srgbClr val="FF0000"/>
          </a:solidFill>
          <a:ln w="25400">
            <a:solidFill>
              <a:srgbClr val="C8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06039" y="5989320"/>
            <a:ext cx="1828800" cy="182880"/>
          </a:xfrm>
          <a:prstGeom prst="rect">
            <a:avLst/>
          </a:prstGeom>
          <a:noFill/>
        </p:spPr>
        <p:txBody>
          <a:bodyPr wrap="none">
            <a:spAutoFit/>
          </a:bodyPr>
          <a:lstStyle/>
          <a:p>
            <a:pPr algn="ctr">
              <a:defRPr sz="900" b="1">
                <a:solidFill>
                  <a:srgbClr val="FFFFFF"/>
                </a:solidFill>
              </a:defRPr>
            </a:pPr>
            <a:r>
              <a:t>◄ CURRENT STAGE ►</a:t>
            </a:r>
          </a:p>
        </p:txBody>
      </p:sp>
      <p:sp>
        <p:nvSpPr>
          <p:cNvPr id="19" name="Rectangle 18"/>
          <p:cNvSpPr/>
          <p:nvPr/>
        </p:nvSpPr>
        <p:spPr>
          <a:xfrm>
            <a:off x="4617720" y="1280160"/>
            <a:ext cx="2011680" cy="5029200"/>
          </a:xfrm>
          <a:prstGeom prst="rect">
            <a:avLst/>
          </a:prstGeom>
          <a:solidFill>
            <a:srgbClr val="FFF5E6"/>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617720" y="1280160"/>
            <a:ext cx="2011680" cy="548640"/>
          </a:xfrm>
          <a:prstGeom prst="rect">
            <a:avLst/>
          </a:prstGeom>
          <a:solidFill>
            <a:srgbClr val="FFA500"/>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17720" y="1325880"/>
            <a:ext cx="2011680" cy="228600"/>
          </a:xfrm>
          <a:prstGeom prst="rect">
            <a:avLst/>
          </a:prstGeom>
          <a:noFill/>
        </p:spPr>
        <p:txBody>
          <a:bodyPr wrap="none">
            <a:spAutoFit/>
          </a:bodyPr>
          <a:lstStyle/>
          <a:p>
            <a:pPr algn="ctr">
              <a:defRPr sz="1400" b="1">
                <a:solidFill>
                  <a:srgbClr val="003D5B"/>
                </a:solidFill>
              </a:defRPr>
            </a:pPr>
            <a:r>
              <a:t>Maturity</a:t>
            </a:r>
          </a:p>
        </p:txBody>
      </p:sp>
      <p:sp>
        <p:nvSpPr>
          <p:cNvPr id="22" name="TextBox 21"/>
          <p:cNvSpPr txBox="1"/>
          <p:nvPr/>
        </p:nvSpPr>
        <p:spPr>
          <a:xfrm>
            <a:off x="4617720" y="1554480"/>
            <a:ext cx="2011680" cy="228600"/>
          </a:xfrm>
          <a:prstGeom prst="rect">
            <a:avLst/>
          </a:prstGeom>
          <a:noFill/>
        </p:spPr>
        <p:txBody>
          <a:bodyPr wrap="none">
            <a:spAutoFit/>
          </a:bodyPr>
          <a:lstStyle/>
          <a:p>
            <a:pPr algn="ctr">
              <a:defRPr sz="900" b="1">
                <a:solidFill>
                  <a:srgbClr val="505050"/>
                </a:solidFill>
              </a:defRPr>
            </a:pPr>
            <a:r>
              <a:t>2027-2029 (Projected)</a:t>
            </a:r>
          </a:p>
        </p:txBody>
      </p:sp>
      <p:sp>
        <p:nvSpPr>
          <p:cNvPr id="23" name="TextBox 22"/>
          <p:cNvSpPr txBox="1"/>
          <p:nvPr/>
        </p:nvSpPr>
        <p:spPr>
          <a:xfrm>
            <a:off x="4663440" y="1920239"/>
            <a:ext cx="1920240" cy="2743200"/>
          </a:xfrm>
          <a:prstGeom prst="rect">
            <a:avLst/>
          </a:prstGeom>
          <a:noFill/>
        </p:spPr>
        <p:txBody>
          <a:bodyPr wrap="square">
            <a:spAutoFit/>
          </a:bodyPr>
          <a:lstStyle/>
          <a:p>
            <a:pPr>
              <a:lnSpc>
                <a:spcPct val="130000"/>
              </a:lnSpc>
              <a:defRPr sz="900">
                <a:solidFill>
                  <a:srgbClr val="282828"/>
                </a:solidFill>
              </a:defRPr>
            </a:pPr>
            <a:r>
              <a:t>• Peak market penetration</a:t>
            </a:r>
          </a:p>
          <a:p>
            <a:pPr>
              <a:lnSpc>
                <a:spcPct val="130000"/>
              </a:lnSpc>
              <a:defRPr sz="900">
                <a:solidFill>
                  <a:srgbClr val="282828"/>
                </a:solidFill>
              </a:defRPr>
            </a:pPr>
            <a:r>
              <a:t>• Stable sales volumes</a:t>
            </a:r>
          </a:p>
          <a:p>
            <a:pPr>
              <a:lnSpc>
                <a:spcPct val="130000"/>
              </a:lnSpc>
              <a:defRPr sz="900">
                <a:solidFill>
                  <a:srgbClr val="282828"/>
                </a:solidFill>
              </a:defRPr>
            </a:pPr>
            <a:r>
              <a:t>• Intense price competition</a:t>
            </a:r>
          </a:p>
          <a:p>
            <a:pPr>
              <a:lnSpc>
                <a:spcPct val="130000"/>
              </a:lnSpc>
              <a:defRPr sz="900">
                <a:solidFill>
                  <a:srgbClr val="282828"/>
                </a:solidFill>
              </a:defRPr>
            </a:pPr>
            <a:r>
              <a:t>• Feature standardization</a:t>
            </a:r>
          </a:p>
          <a:p>
            <a:pPr>
              <a:lnSpc>
                <a:spcPct val="130000"/>
              </a:lnSpc>
              <a:defRPr sz="900">
                <a:solidFill>
                  <a:srgbClr val="282828"/>
                </a:solidFill>
              </a:defRPr>
            </a:pPr>
            <a:r>
              <a:t>• Market saturation</a:t>
            </a:r>
          </a:p>
          <a:p>
            <a:pPr>
              <a:lnSpc>
                <a:spcPct val="130000"/>
              </a:lnSpc>
              <a:defRPr sz="900">
                <a:solidFill>
                  <a:srgbClr val="282828"/>
                </a:solidFill>
              </a:defRPr>
            </a:pPr>
            <a:r>
              <a:t>• Cost optimization focus</a:t>
            </a:r>
          </a:p>
          <a:p>
            <a:pPr>
              <a:lnSpc>
                <a:spcPct val="130000"/>
              </a:lnSpc>
              <a:defRPr sz="900">
                <a:solidFill>
                  <a:srgbClr val="282828"/>
                </a:solidFill>
              </a:defRPr>
            </a:pPr>
            <a:r>
              <a:t>• Incremental improvements</a:t>
            </a:r>
          </a:p>
        </p:txBody>
      </p:sp>
      <p:sp>
        <p:nvSpPr>
          <p:cNvPr id="24" name="TextBox 23"/>
          <p:cNvSpPr txBox="1"/>
          <p:nvPr/>
        </p:nvSpPr>
        <p:spPr>
          <a:xfrm>
            <a:off x="4663440" y="4754879"/>
            <a:ext cx="1920240" cy="1097280"/>
          </a:xfrm>
          <a:prstGeom prst="rect">
            <a:avLst/>
          </a:prstGeom>
          <a:noFill/>
        </p:spPr>
        <p:txBody>
          <a:bodyPr wrap="square">
            <a:spAutoFit/>
          </a:bodyPr>
          <a:lstStyle/>
          <a:p>
            <a:pPr>
              <a:defRPr sz="900" b="1">
                <a:solidFill>
                  <a:srgbClr val="0071C5"/>
                </a:solidFill>
              </a:defRPr>
            </a:pPr>
            <a:r>
              <a:t>Intel Specifics:</a:t>
            </a:r>
          </a:p>
          <a:p>
            <a:pPr>
              <a:lnSpc>
                <a:spcPct val="120000"/>
              </a:lnSpc>
              <a:defRPr sz="800">
                <a:solidFill>
                  <a:srgbClr val="0071C5"/>
                </a:solidFill>
              </a:defRPr>
            </a:pPr>
            <a:r>
              <a:t>? Mainstream AI PC adoption</a:t>
            </a:r>
          </a:p>
          <a:p>
            <a:pPr>
              <a:lnSpc>
                <a:spcPct val="120000"/>
              </a:lnSpc>
              <a:defRPr sz="800">
                <a:solidFill>
                  <a:srgbClr val="0071C5"/>
                </a:solidFill>
              </a:defRPr>
            </a:pPr>
            <a:r>
              <a:t>? Commodity pricing pressure</a:t>
            </a:r>
          </a:p>
          <a:p>
            <a:pPr>
              <a:lnSpc>
                <a:spcPct val="120000"/>
              </a:lnSpc>
              <a:defRPr sz="800">
                <a:solidFill>
                  <a:srgbClr val="0071C5"/>
                </a:solidFill>
              </a:defRPr>
            </a:pPr>
            <a:r>
              <a:t>? Next-gen development focus</a:t>
            </a:r>
          </a:p>
        </p:txBody>
      </p:sp>
      <p:sp>
        <p:nvSpPr>
          <p:cNvPr id="25" name="Rectangle 24"/>
          <p:cNvSpPr/>
          <p:nvPr/>
        </p:nvSpPr>
        <p:spPr>
          <a:xfrm>
            <a:off x="6720840" y="1280160"/>
            <a:ext cx="2011680" cy="5029200"/>
          </a:xfrm>
          <a:prstGeom prst="rect">
            <a:avLst/>
          </a:prstGeom>
          <a:solidFill>
            <a:srgbClr val="F5F5F5"/>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720840" y="1280160"/>
            <a:ext cx="2011680" cy="548640"/>
          </a:xfrm>
          <a:prstGeom prst="rect">
            <a:avLst/>
          </a:prstGeom>
          <a:solidFill>
            <a:srgbClr val="BEBEBE"/>
          </a:solidFill>
          <a:ln w="254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0840" y="1325880"/>
            <a:ext cx="2011680" cy="228600"/>
          </a:xfrm>
          <a:prstGeom prst="rect">
            <a:avLst/>
          </a:prstGeom>
          <a:noFill/>
        </p:spPr>
        <p:txBody>
          <a:bodyPr wrap="none">
            <a:spAutoFit/>
          </a:bodyPr>
          <a:lstStyle/>
          <a:p>
            <a:pPr algn="ctr">
              <a:defRPr sz="1400" b="1">
                <a:solidFill>
                  <a:srgbClr val="003D5B"/>
                </a:solidFill>
              </a:defRPr>
            </a:pPr>
            <a:r>
              <a:t>Decline</a:t>
            </a:r>
          </a:p>
        </p:txBody>
      </p:sp>
      <p:sp>
        <p:nvSpPr>
          <p:cNvPr id="28" name="TextBox 27"/>
          <p:cNvSpPr txBox="1"/>
          <p:nvPr/>
        </p:nvSpPr>
        <p:spPr>
          <a:xfrm>
            <a:off x="6720840" y="1554480"/>
            <a:ext cx="2011680" cy="228600"/>
          </a:xfrm>
          <a:prstGeom prst="rect">
            <a:avLst/>
          </a:prstGeom>
          <a:noFill/>
        </p:spPr>
        <p:txBody>
          <a:bodyPr wrap="none">
            <a:spAutoFit/>
          </a:bodyPr>
          <a:lstStyle/>
          <a:p>
            <a:pPr algn="ctr">
              <a:defRPr sz="900" b="1">
                <a:solidFill>
                  <a:srgbClr val="505050"/>
                </a:solidFill>
              </a:defRPr>
            </a:pPr>
            <a:r>
              <a:t>2030+ (Projected)</a:t>
            </a:r>
          </a:p>
        </p:txBody>
      </p:sp>
      <p:sp>
        <p:nvSpPr>
          <p:cNvPr id="29" name="TextBox 28"/>
          <p:cNvSpPr txBox="1"/>
          <p:nvPr/>
        </p:nvSpPr>
        <p:spPr>
          <a:xfrm>
            <a:off x="6766559" y="1920239"/>
            <a:ext cx="1920240" cy="2743200"/>
          </a:xfrm>
          <a:prstGeom prst="rect">
            <a:avLst/>
          </a:prstGeom>
          <a:noFill/>
        </p:spPr>
        <p:txBody>
          <a:bodyPr wrap="square">
            <a:spAutoFit/>
          </a:bodyPr>
          <a:lstStyle/>
          <a:p>
            <a:pPr>
              <a:lnSpc>
                <a:spcPct val="130000"/>
              </a:lnSpc>
              <a:defRPr sz="900">
                <a:solidFill>
                  <a:srgbClr val="282828"/>
                </a:solidFill>
              </a:defRPr>
            </a:pPr>
            <a:r>
              <a:t>• Sales volume decline</a:t>
            </a:r>
          </a:p>
          <a:p>
            <a:pPr>
              <a:lnSpc>
                <a:spcPct val="130000"/>
              </a:lnSpc>
              <a:defRPr sz="900">
                <a:solidFill>
                  <a:srgbClr val="282828"/>
                </a:solidFill>
              </a:defRPr>
            </a:pPr>
            <a:r>
              <a:t>• New technology emergence</a:t>
            </a:r>
          </a:p>
          <a:p>
            <a:pPr>
              <a:lnSpc>
                <a:spcPct val="130000"/>
              </a:lnSpc>
              <a:defRPr sz="900">
                <a:solidFill>
                  <a:srgbClr val="282828"/>
                </a:solidFill>
              </a:defRPr>
            </a:pPr>
            <a:r>
              <a:t>• Legacy system status</a:t>
            </a:r>
          </a:p>
          <a:p>
            <a:pPr>
              <a:lnSpc>
                <a:spcPct val="130000"/>
              </a:lnSpc>
              <a:defRPr sz="900">
                <a:solidFill>
                  <a:srgbClr val="282828"/>
                </a:solidFill>
              </a:defRPr>
            </a:pPr>
            <a:r>
              <a:t>• Reduced marketing spend</a:t>
            </a:r>
          </a:p>
          <a:p>
            <a:pPr>
              <a:lnSpc>
                <a:spcPct val="130000"/>
              </a:lnSpc>
              <a:defRPr sz="900">
                <a:solidFill>
                  <a:srgbClr val="282828"/>
                </a:solidFill>
              </a:defRPr>
            </a:pPr>
            <a:r>
              <a:t>• Clearance strategies</a:t>
            </a:r>
          </a:p>
          <a:p>
            <a:pPr>
              <a:lnSpc>
                <a:spcPct val="130000"/>
              </a:lnSpc>
              <a:defRPr sz="900">
                <a:solidFill>
                  <a:srgbClr val="282828"/>
                </a:solidFill>
              </a:defRPr>
            </a:pPr>
            <a:r>
              <a:t>• End-of-life planning</a:t>
            </a:r>
          </a:p>
          <a:p>
            <a:pPr>
              <a:lnSpc>
                <a:spcPct val="130000"/>
              </a:lnSpc>
              <a:defRPr sz="900">
                <a:solidFill>
                  <a:srgbClr val="282828"/>
                </a:solidFill>
              </a:defRPr>
            </a:pPr>
            <a:r>
              <a:t>• Successor introduction</a:t>
            </a:r>
          </a:p>
        </p:txBody>
      </p:sp>
      <p:sp>
        <p:nvSpPr>
          <p:cNvPr id="30" name="TextBox 29"/>
          <p:cNvSpPr txBox="1"/>
          <p:nvPr/>
        </p:nvSpPr>
        <p:spPr>
          <a:xfrm>
            <a:off x="6766559" y="4754879"/>
            <a:ext cx="1920240" cy="1097280"/>
          </a:xfrm>
          <a:prstGeom prst="rect">
            <a:avLst/>
          </a:prstGeom>
          <a:noFill/>
        </p:spPr>
        <p:txBody>
          <a:bodyPr wrap="square">
            <a:spAutoFit/>
          </a:bodyPr>
          <a:lstStyle/>
          <a:p>
            <a:pPr>
              <a:defRPr sz="900" b="1">
                <a:solidFill>
                  <a:srgbClr val="0071C5"/>
                </a:solidFill>
              </a:defRPr>
            </a:pPr>
            <a:r>
              <a:t>Intel Specifics:</a:t>
            </a:r>
          </a:p>
          <a:p>
            <a:pPr>
              <a:lnSpc>
                <a:spcPct val="120000"/>
              </a:lnSpc>
              <a:defRPr sz="800">
                <a:solidFill>
                  <a:srgbClr val="0071C5"/>
                </a:solidFill>
              </a:defRPr>
            </a:pPr>
            <a:r>
              <a:t>? Next architecture launch</a:t>
            </a:r>
          </a:p>
          <a:p>
            <a:pPr>
              <a:lnSpc>
                <a:spcPct val="120000"/>
              </a:lnSpc>
              <a:defRPr sz="800">
                <a:solidFill>
                  <a:srgbClr val="0071C5"/>
                </a:solidFill>
              </a:defRPr>
            </a:pPr>
            <a:r>
              <a:t>? Quantum/neuromorphic shift</a:t>
            </a:r>
          </a:p>
          <a:p>
            <a:pPr>
              <a:lnSpc>
                <a:spcPct val="120000"/>
              </a:lnSpc>
              <a:defRPr sz="800">
                <a:solidFill>
                  <a:srgbClr val="0071C5"/>
                </a:solidFill>
              </a:defRPr>
            </a:pPr>
            <a:r>
              <a:t>? Technology obsolescence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335</Words>
  <Application>Microsoft Office PowerPoint</Application>
  <PresentationFormat>On-screen Show (4:3)</PresentationFormat>
  <Paragraphs>58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2</cp:revision>
  <dcterms:created xsi:type="dcterms:W3CDTF">2013-01-27T09:14:16Z</dcterms:created>
  <dcterms:modified xsi:type="dcterms:W3CDTF">2026-01-27T23:19:12Z</dcterms:modified>
  <cp:category/>
</cp:coreProperties>
</file>