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671" autoAdjust="0"/>
  </p:normalViewPr>
  <p:slideViewPr>
    <p:cSldViewPr snapToGrid="0" snapToObjects="1">
      <p:cViewPr varScale="1">
        <p:scale>
          <a:sx n="79" d="100"/>
          <a:sy n="79" d="100"/>
        </p:scale>
        <p:origin x="416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60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PROBLEM INTEL IS SOLVING:</a:t>
            </a:r>
          </a:p>
          <a:p>
            <a:endParaRPr/>
          </a:p>
          <a:p>
            <a:r>
              <a:t>THE CORE PROBLEM:</a:t>
            </a:r>
          </a:p>
          <a:p>
            <a:r>
              <a:t>In today's AI-driven world, businesses and professionals face a critical dilemma: they need powerful AI capabilities for productivity, content creation, and data analysis, BUT they cannot afford to compromise data privacy and security by sending sensitive information to cloud servers. Current AI solutions force users to choose between performance and privacy.</a:t>
            </a:r>
          </a:p>
          <a:p>
            <a:endParaRPr/>
          </a:p>
          <a:p>
            <a:r>
              <a:t>SPECIFIC PAIN POINTS INTEL ADDRESSES:</a:t>
            </a:r>
          </a:p>
          <a:p>
            <a:endParaRPr/>
          </a:p>
          <a:p>
            <a:r>
              <a:t>1. DATA PRIVACY &amp; SECURITY CONCERNS</a:t>
            </a:r>
          </a:p>
          <a:p>
            <a:r>
              <a:t>- Problem: Cloud-based AI tools require uploading sensitive business data, intellectual property, financial information, and personal content to third-party servers</a:t>
            </a:r>
          </a:p>
          <a:p>
            <a:r>
              <a:t>- Consumer Fear: "Where is my data going? Who can access it? Is it being used to train AI models?"</a:t>
            </a:r>
          </a:p>
          <a:p>
            <a:r>
              <a:t>- Intel's Solution: Local AI processing with Core Ultra Series 3 keeps ALL data on the user's device—nothing leaves the computer</a:t>
            </a:r>
          </a:p>
          <a:p>
            <a:endParaRPr/>
          </a:p>
          <a:p>
            <a:r>
              <a:t>2. INTERNET DEPENDENCY &amp; PRODUCTIVITY LOSS</a:t>
            </a:r>
          </a:p>
          <a:p>
            <a:r>
              <a:t>- Problem: Cloud AI requires constant internet connectivity; professionals lose access during travel, poor connections, or outages</a:t>
            </a:r>
          </a:p>
          <a:p>
            <a:r>
              <a:t>- Consumer Frustration: "I can't work on the plane, in remote locations, or during internet downtime"</a:t>
            </a:r>
          </a:p>
          <a:p>
            <a:r>
              <a:t>- Intel's Solution: Offline AI capabilities mean full functionality anywhere, anytime—no internet required</a:t>
            </a:r>
          </a:p>
          <a:p>
            <a:endParaRPr/>
          </a:p>
          <a:p>
            <a:r>
              <a:t>3. PERFORMANCE BOTTLENECKS &amp; COSTS</a:t>
            </a:r>
          </a:p>
          <a:p>
            <a:r>
              <a:t>- Problem: Legacy systems struggle with AI workloads; cloud AI services have subscription costs and latency issues</a:t>
            </a:r>
          </a:p>
          <a:p>
            <a:r>
              <a:t>- Consumer Pain: "My computer is too slow for modern AI applications, and cloud subscriptions are expensive"</a:t>
            </a:r>
          </a:p>
          <a:p>
            <a:r>
              <a:t>- Intel's Solution: Desktop-class performance in mobile devices with 50% better price-performance; one-time hardware investment vs. ongoing cloud fees</a:t>
            </a:r>
          </a:p>
          <a:p>
            <a:endParaRPr/>
          </a:p>
          <a:p>
            <a:r>
              <a:t>4. COMPLIANCE &amp; REGULATORY REQUIREMENTS</a:t>
            </a:r>
          </a:p>
          <a:p>
            <a:r>
              <a:t>- Problem: Industries like healthcare, finance, and legal face strict data regulations (HIPAA, GDPR, SOX) that restrict cloud data transmission</a:t>
            </a:r>
          </a:p>
          <a:p>
            <a:r>
              <a:t>- Business Challenge: "We can't use cloud AI tools because of compliance requirements"</a:t>
            </a:r>
          </a:p>
          <a:p>
            <a:r>
              <a:t>- Intel's Solution: On-device AI meets regulatory requirements by ensuring data never leaves controlled environments</a:t>
            </a:r>
          </a:p>
          <a:p>
            <a:endParaRPr/>
          </a:p>
          <a:p>
            <a:r>
              <a:t>5. TRUST &amp; BRAND RELIABILITY</a:t>
            </a:r>
          </a:p>
          <a:p>
            <a:r>
              <a:t>- Problem: Uncertainty about foreign manufacturing, supply chain security, and technological sovereignty</a:t>
            </a:r>
          </a:p>
          <a:p>
            <a:r>
              <a:t>- Consumer Concern: "Can I trust where my technology comes from?"</a:t>
            </a:r>
          </a:p>
          <a:p>
            <a:r>
              <a:t>- Intel's Solution: Made in USA manufacturing with 18A process technology provides supply chain security and quality assurance</a:t>
            </a:r>
          </a:p>
          <a:p>
            <a:endParaRPr/>
          </a:p>
          <a:p>
            <a:r>
              <a:t>TARGET CONSUMER PROFILE:</a:t>
            </a:r>
          </a:p>
          <a:p>
            <a:r>
              <a:t>- IT Decision-makers (ages 25-54, income $75K-$150K+)</a:t>
            </a:r>
          </a:p>
          <a:p>
            <a:r>
              <a:t>- Enterprise professionals handling sensitive data</a:t>
            </a:r>
          </a:p>
          <a:p>
            <a:r>
              <a:t>- Content creators needing powerful local processing</a:t>
            </a:r>
          </a:p>
          <a:p>
            <a:r>
              <a:t>- Technical specialists requiring high-performance computing</a:t>
            </a:r>
          </a:p>
          <a:p>
            <a:r>
              <a:t>- Privacy-conscious professionals and businesses</a:t>
            </a:r>
          </a:p>
          <a:p>
            <a:endParaRPr/>
          </a:p>
          <a:p>
            <a:r>
              <a:t>WHY THIS AD WORKS:</a:t>
            </a:r>
          </a:p>
          <a:p>
            <a:endParaRPr/>
          </a:p>
          <a:p>
            <a:r>
              <a:t>The headline "Your Data. Your Device. Your Power." directly addresses the three core anxieties:</a:t>
            </a:r>
          </a:p>
          <a:p>
            <a:r>
              <a:t>1. Data ownership and privacy ("Your Data")</a:t>
            </a:r>
          </a:p>
          <a:p>
            <a:r>
              <a:t>2. Local control and security ("Your Device")  </a:t>
            </a:r>
          </a:p>
          <a:p>
            <a:r>
              <a:t>3. Performance and capability ("Your Power")</a:t>
            </a:r>
          </a:p>
          <a:p>
            <a:endParaRPr/>
          </a:p>
          <a:p>
            <a:r>
              <a:t>The subheadline "AI PCs that work offline—no cloud required" immediately communicates the unique value proposition that solves the privacy-vs-performance dilemma.</a:t>
            </a:r>
          </a:p>
          <a:p>
            <a:endParaRPr/>
          </a:p>
          <a:p>
            <a:r>
              <a:t>The body copy reinforces the problem-solution with action-oriented language: "Stop sending sensitive data" (problem) → "Intel Core Ultra delivers AI performance on your device" (solution).</a:t>
            </a:r>
          </a:p>
          <a:p>
            <a:endParaRPr/>
          </a:p>
          <a:p>
            <a:r>
              <a:t>The performance callout (50% better price-performance) addresses the cost-benefit concern.</a:t>
            </a:r>
          </a:p>
          <a:p>
            <a:endParaRPr/>
          </a:p>
          <a:p>
            <a:r>
              <a:t>The CTA "Discover AI PCs" invites exploration without pressure, appropriate for a considered B2B/professional purchase.</a:t>
            </a:r>
          </a:p>
          <a:p>
            <a:endParaRPr/>
          </a:p>
          <a:p>
            <a:r>
              <a:t>COMPETITIVE DIFFERENTIATION:</a:t>
            </a:r>
          </a:p>
          <a:p>
            <a:r>
              <a:t>Unlike competitors (Qualcomm, AMD) who focus primarily on cloud-connected AI or gaming performance, Intel uniquely positions itself as the privacy-first, offline-capable AI solution with U.S. manufacturing trust—directly solving the modern professional's AI dilemma.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D5B"/>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548640"/>
          </a:xfrm>
          <a:prstGeom prst="rect">
            <a:avLst/>
          </a:prstGeom>
          <a:noFill/>
        </p:spPr>
        <p:txBody>
          <a:bodyPr wrap="none">
            <a:spAutoFit/>
          </a:bodyPr>
          <a:lstStyle/>
          <a:p>
            <a:pPr algn="ctr">
              <a:defRPr sz="2800" b="1">
                <a:solidFill>
                  <a:srgbClr val="FFFFFF"/>
                </a:solidFill>
              </a:defRPr>
            </a:pPr>
            <a:r>
              <a:t>INTEL DISPLAY AD - Problem-Solution Marketing</a:t>
            </a:r>
          </a:p>
        </p:txBody>
      </p:sp>
      <p:sp>
        <p:nvSpPr>
          <p:cNvPr id="3" name="Rectangle 2"/>
          <p:cNvSpPr/>
          <p:nvPr/>
        </p:nvSpPr>
        <p:spPr>
          <a:xfrm>
            <a:off x="1161288" y="1097280"/>
            <a:ext cx="6867144" cy="4114800"/>
          </a:xfrm>
          <a:prstGeom prst="rect">
            <a:avLst/>
          </a:prstGeom>
          <a:solidFill>
            <a:srgbClr val="FFFFFF"/>
          </a:solidFill>
          <a:ln w="38100">
            <a:solidFill>
              <a:srgbClr val="007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828800" y="1371600"/>
            <a:ext cx="5486400" cy="731520"/>
          </a:xfrm>
          <a:prstGeom prst="rect">
            <a:avLst/>
          </a:prstGeom>
          <a:noFill/>
        </p:spPr>
        <p:txBody>
          <a:bodyPr wrap="none">
            <a:spAutoFit/>
          </a:bodyPr>
          <a:lstStyle/>
          <a:p>
            <a:pPr algn="ctr">
              <a:defRPr sz="3600" b="1">
                <a:solidFill>
                  <a:srgbClr val="003D5B"/>
                </a:solidFill>
              </a:defRPr>
            </a:pPr>
            <a:r>
              <a:t>Your Data. Your Device. Your Power.</a:t>
            </a:r>
          </a:p>
        </p:txBody>
      </p:sp>
      <p:sp>
        <p:nvSpPr>
          <p:cNvPr id="5" name="TextBox 4"/>
          <p:cNvSpPr txBox="1"/>
          <p:nvPr/>
        </p:nvSpPr>
        <p:spPr>
          <a:xfrm>
            <a:off x="1828800" y="2194560"/>
            <a:ext cx="5486400" cy="457200"/>
          </a:xfrm>
          <a:prstGeom prst="rect">
            <a:avLst/>
          </a:prstGeom>
          <a:noFill/>
        </p:spPr>
        <p:txBody>
          <a:bodyPr wrap="none">
            <a:spAutoFit/>
          </a:bodyPr>
          <a:lstStyle/>
          <a:p>
            <a:pPr algn="ctr">
              <a:defRPr sz="2000">
                <a:solidFill>
                  <a:srgbClr val="0071C5"/>
                </a:solidFill>
              </a:defRPr>
            </a:pPr>
            <a:r>
              <a:t>AI PCs that work offline—no cloud required</a:t>
            </a:r>
          </a:p>
        </p:txBody>
      </p:sp>
      <p:sp>
        <p:nvSpPr>
          <p:cNvPr id="6" name="TextBox 5"/>
          <p:cNvSpPr txBox="1"/>
          <p:nvPr/>
        </p:nvSpPr>
        <p:spPr>
          <a:xfrm>
            <a:off x="2011680" y="2834640"/>
            <a:ext cx="5120640" cy="1097280"/>
          </a:xfrm>
          <a:prstGeom prst="rect">
            <a:avLst/>
          </a:prstGeom>
          <a:noFill/>
        </p:spPr>
        <p:txBody>
          <a:bodyPr wrap="square">
            <a:spAutoFit/>
          </a:bodyPr>
          <a:lstStyle/>
          <a:p>
            <a:pPr algn="ctr">
              <a:lnSpc>
                <a:spcPct val="130000"/>
              </a:lnSpc>
              <a:defRPr sz="1400">
                <a:solidFill>
                  <a:srgbClr val="333333"/>
                </a:solidFill>
              </a:defRPr>
            </a:pPr>
            <a:r>
              <a:rPr dirty="0"/>
              <a:t>Stop sending sensitive data to the cloud. Intel Core Ultra Series 3 processors deliver desktop-class AI performance right on your device.</a:t>
            </a:r>
          </a:p>
          <a:p>
            <a:endParaRPr dirty="0"/>
          </a:p>
          <a:p>
            <a:r>
              <a:rPr dirty="0"/>
              <a:t>Privacy-first. Performance-first. Made in USA.</a:t>
            </a:r>
          </a:p>
        </p:txBody>
      </p:sp>
      <p:sp>
        <p:nvSpPr>
          <p:cNvPr id="7" name="Rectangle 6"/>
          <p:cNvSpPr/>
          <p:nvPr/>
        </p:nvSpPr>
        <p:spPr>
          <a:xfrm>
            <a:off x="1929384" y="4297680"/>
            <a:ext cx="3657600" cy="793528"/>
          </a:xfrm>
          <a:prstGeom prst="rect">
            <a:avLst/>
          </a:prstGeom>
          <a:solidFill>
            <a:srgbClr val="00C7FD"/>
          </a:solidFill>
          <a:ln>
            <a:solidFill>
              <a:srgbClr val="0071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2660904" y="4352544"/>
            <a:ext cx="2322576" cy="738664"/>
          </a:xfrm>
          <a:prstGeom prst="rect">
            <a:avLst/>
          </a:prstGeom>
          <a:noFill/>
        </p:spPr>
        <p:txBody>
          <a:bodyPr wrap="square">
            <a:spAutoFit/>
          </a:bodyPr>
          <a:lstStyle/>
          <a:p>
            <a:pPr algn="ctr">
              <a:defRPr sz="1400" b="1">
                <a:solidFill>
                  <a:srgbClr val="003D5B"/>
                </a:solidFill>
              </a:defRPr>
            </a:pPr>
            <a:r>
              <a:rPr dirty="0"/>
              <a:t>50% better price-performance than previous gen</a:t>
            </a:r>
          </a:p>
        </p:txBody>
      </p:sp>
      <p:sp>
        <p:nvSpPr>
          <p:cNvPr id="9" name="Rectangle 8"/>
          <p:cNvSpPr/>
          <p:nvPr/>
        </p:nvSpPr>
        <p:spPr>
          <a:xfrm>
            <a:off x="5033772" y="4434840"/>
            <a:ext cx="2743200" cy="457200"/>
          </a:xfrm>
          <a:prstGeom prst="rect">
            <a:avLst/>
          </a:prstGeom>
          <a:solidFill>
            <a:srgbClr val="0071C5"/>
          </a:solidFill>
          <a:ln w="25400">
            <a:solidFill>
              <a:srgbClr val="00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50308" y="4480560"/>
            <a:ext cx="2743200" cy="457200"/>
          </a:xfrm>
          <a:prstGeom prst="rect">
            <a:avLst/>
          </a:prstGeom>
          <a:noFill/>
        </p:spPr>
        <p:txBody>
          <a:bodyPr wrap="none">
            <a:spAutoFit/>
          </a:bodyPr>
          <a:lstStyle/>
          <a:p>
            <a:pPr algn="ctr">
              <a:defRPr sz="1800" b="1">
                <a:solidFill>
                  <a:srgbClr val="FFFFFF"/>
                </a:solidFill>
              </a:defRPr>
            </a:pPr>
            <a:r>
              <a:t>Discover AI PCs →</a:t>
            </a:r>
          </a:p>
        </p:txBody>
      </p:sp>
      <p:sp>
        <p:nvSpPr>
          <p:cNvPr id="11" name="TextBox 10"/>
          <p:cNvSpPr txBox="1"/>
          <p:nvPr/>
        </p:nvSpPr>
        <p:spPr>
          <a:xfrm>
            <a:off x="1828800" y="5760720"/>
            <a:ext cx="5486400" cy="274320"/>
          </a:xfrm>
          <a:prstGeom prst="rect">
            <a:avLst/>
          </a:prstGeom>
          <a:noFill/>
        </p:spPr>
        <p:txBody>
          <a:bodyPr wrap="none">
            <a:spAutoFit/>
          </a:bodyPr>
          <a:lstStyle/>
          <a:p>
            <a:pPr algn="ctr">
              <a:defRPr sz="1100">
                <a:solidFill>
                  <a:srgbClr val="646464"/>
                </a:solidFill>
              </a:defRPr>
            </a:pPr>
            <a:r>
              <a:t>Intel Inside® | 18A Technology | Core Ultra Series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719</Words>
  <Application>Microsoft Office PowerPoint</Application>
  <PresentationFormat>On-screen Show (4:3)</PresentationFormat>
  <Paragraphs>65</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Louis Rodriguez</cp:lastModifiedBy>
  <cp:revision>2</cp:revision>
  <dcterms:created xsi:type="dcterms:W3CDTF">2013-01-27T09:14:16Z</dcterms:created>
  <dcterms:modified xsi:type="dcterms:W3CDTF">2026-01-20T23:27:18Z</dcterms:modified>
  <cp:category/>
</cp:coreProperties>
</file>